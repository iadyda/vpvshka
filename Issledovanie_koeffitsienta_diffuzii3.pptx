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CA3321-3FB4-4A07-BDF0-0FA8F7F37F26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CF0608-0CD2-4D50-B12E-F7076AD21CF6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049957-5A4B-4337-880E-690FF89ADE7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4E91FE-1ACE-442E-804A-4C10950B8AA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F7D59B-1149-4591-8146-BB98D3D9B0B0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EBF189-0DCC-4D39-8200-20A16F8592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B21942-23C4-4272-807F-478F4F191E0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D5920A-073F-4E7D-9FD6-027C0B0AE85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B950C7-EFDA-4547-8648-BA96A0923F7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BFDA7A-F672-455D-BEE1-97A1F0C239C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2A7CFB-44DC-4BC3-A35B-AD82513660D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C9BD71-A952-4409-8C3C-E09C6906206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893F2E-9AD0-48B8-B969-C37E87E38AF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21E1C3-E77F-4170-A192-F2A14B977D3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66000" y="605880"/>
            <a:ext cx="9142920" cy="344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36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Определение коэффициента диффузии гелия через резиновую оболочку шарика и изучение зависимости диффузии от различных факторов</a:t>
            </a:r>
            <a:br>
              <a:rPr sz="3600"/>
            </a:b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2837160" y="4046760"/>
            <a:ext cx="9142920" cy="164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rmAutofit/>
          </a:bodyPr>
          <a:p>
            <a:pPr marL="228600"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Выполнили студентки ФАКТ, группы Б03-504: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Титова Ксения Вадимовна (просто солнышко)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Хабибуллина Даная Маратовна (кошечка милашечка)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Рисунок 76"/>
          <p:cNvPicPr/>
          <p:nvPr/>
        </p:nvPicPr>
        <p:blipFill>
          <a:blip r:embed="rId1"/>
          <a:stretch/>
        </p:blipFill>
        <p:spPr>
          <a:xfrm>
            <a:off x="601560" y="3631680"/>
            <a:ext cx="1928880" cy="29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77"/>
          <p:cNvSpPr/>
          <p:nvPr/>
        </p:nvSpPr>
        <p:spPr>
          <a:xfrm>
            <a:off x="4249800" y="6066720"/>
            <a:ext cx="35560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г. Долгопрудный, 2026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8"/>
          <p:cNvSpPr/>
          <p:nvPr/>
        </p:nvSpPr>
        <p:spPr>
          <a:xfrm>
            <a:off x="2348640" y="367560"/>
            <a:ext cx="7766640" cy="13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Московский физико-технический институт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(национальный исследовательский университет)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20628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Цель работы: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962280" y="1531080"/>
            <a:ext cx="10514520" cy="200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 Math"/>
                <a:ea typeface="Microsoft YaHei"/>
              </a:rPr>
              <a:t>Экспериментально определить коэффициент диффузии гелия через оболочки воздушных шариков, провести сравнительный анализ влияния типа оболочки воздушных шаров, их размера и формы, температуры окружающей среды на коэффициент диффузии.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Рисунок 81"/>
          <p:cNvPicPr/>
          <p:nvPr/>
        </p:nvPicPr>
        <p:blipFill>
          <a:blip r:embed="rId1"/>
          <a:stretch/>
        </p:blipFill>
        <p:spPr>
          <a:xfrm>
            <a:off x="9796680" y="3400920"/>
            <a:ext cx="1885680" cy="274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82"/>
          <p:cNvSpPr/>
          <p:nvPr/>
        </p:nvSpPr>
        <p:spPr>
          <a:xfrm>
            <a:off x="914400" y="3284280"/>
            <a:ext cx="8547840" cy="28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 Math"/>
                <a:ea typeface="Microsoft YaHei"/>
              </a:rPr>
              <a:t>Данная работа, в отличие от работ предшественников, учитывает отличие формы шарика от формы эллипсоида (или сферы), изменение площади поверхности шарика во времени (что влияет на результаты значительно), а также мы считаем, производную массы грузика непостоянной и приводим соответствующее обоснование!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Гипотеза: каковы наши ожидания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Со временем скорость истечения газа будет уменьшаться. 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Коэффициент диффузии получится близким к теоретическому в пределах погрешности эксперимента. 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Хромированное покрытие НЕ повлияет на результаты эксперимента в переделах погрешности. 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При понижении температуры молекулы будут двигаться медленнее в корень из Т раз, то есть незначительно снизится скорость диффузии. Попробуем это заметить.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У более дорогих шариков с другим составом оболочки коэффициент диффузии будет меньше, т. к. они дольше стоят.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20104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Теоретический вывод формулы для расчёта коэффициента диффузии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"/>
          <p:cNvSpPr/>
          <p:nvPr/>
        </p:nvSpPr>
        <p:spPr>
          <a:xfrm>
            <a:off x="700560" y="1689840"/>
            <a:ext cx="10904400" cy="5537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20104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Теоретический вывод формулы для расчёта коэффициента диффузии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4" descr="Picture background"/>
          <p:cNvPicPr/>
          <p:nvPr/>
        </p:nvPicPr>
        <p:blipFill>
          <a:blip r:embed="rId1"/>
          <a:srcRect l="23669" t="5703" r="52130" b="10494"/>
          <a:stretch/>
        </p:blipFill>
        <p:spPr>
          <a:xfrm>
            <a:off x="9961200" y="3867120"/>
            <a:ext cx="2012400" cy="281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1"/>
          <p:cNvSpPr/>
          <p:nvPr/>
        </p:nvSpPr>
        <p:spPr>
          <a:xfrm>
            <a:off x="953280" y="1853280"/>
            <a:ext cx="10904400" cy="4898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Вывод расчетной формулы для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k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Рисунок 91"/>
          <p:cNvPicPr/>
          <p:nvPr/>
        </p:nvPicPr>
        <p:blipFill>
          <a:blip r:embed="rId1"/>
          <a:stretch/>
        </p:blipFill>
        <p:spPr>
          <a:xfrm>
            <a:off x="9663840" y="4194000"/>
            <a:ext cx="2184480" cy="229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3"/>
          <p:cNvSpPr/>
          <p:nvPr/>
        </p:nvSpPr>
        <p:spPr>
          <a:xfrm>
            <a:off x="1497960" y="1689840"/>
            <a:ext cx="8005680" cy="40132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2"/>
          <p:cNvSpPr/>
          <p:nvPr/>
        </p:nvSpPr>
        <p:spPr>
          <a:xfrm>
            <a:off x="285480" y="200880"/>
            <a:ext cx="1135764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Экспериментальная установка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Рисунок 93"/>
          <p:cNvPicPr/>
          <p:nvPr/>
        </p:nvPicPr>
        <p:blipFill>
          <a:blip r:embed="rId1"/>
          <a:stretch/>
        </p:blipFill>
        <p:spPr>
          <a:xfrm>
            <a:off x="7986600" y="1085760"/>
            <a:ext cx="3622680" cy="546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Рисунок 94"/>
          <p:cNvPicPr/>
          <p:nvPr/>
        </p:nvPicPr>
        <p:blipFill>
          <a:blip r:embed="rId2"/>
          <a:stretch/>
        </p:blipFill>
        <p:spPr>
          <a:xfrm>
            <a:off x="402480" y="1011960"/>
            <a:ext cx="1761480" cy="30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Рисунок 95"/>
          <p:cNvPicPr/>
          <p:nvPr/>
        </p:nvPicPr>
        <p:blipFill>
          <a:blip r:embed="rId3"/>
          <a:stretch/>
        </p:blipFill>
        <p:spPr>
          <a:xfrm>
            <a:off x="5410080" y="1095480"/>
            <a:ext cx="2357280" cy="30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Рисунок 96"/>
          <p:cNvPicPr/>
          <p:nvPr/>
        </p:nvPicPr>
        <p:blipFill>
          <a:blip r:embed="rId4"/>
          <a:stretch/>
        </p:blipFill>
        <p:spPr>
          <a:xfrm>
            <a:off x="2892960" y="1085760"/>
            <a:ext cx="2129760" cy="28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97"/>
          <p:cNvSpPr/>
          <p:nvPr/>
        </p:nvSpPr>
        <p:spPr>
          <a:xfrm>
            <a:off x="148320" y="3997080"/>
            <a:ext cx="7619040" cy="28911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План работы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Снятие показаний весов для разных типов шариков с разным начальным объёмом, а также площади их поверхности во времени.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Определение плотности оболочки каждого шарика.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Обработка результатов: расчет искомых величин, построение графиков, оценка погрешностей.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Составление выводов и сравнение с теорией, теоретическая оценка неучтенных факторов.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06840" y="2675880"/>
            <a:ext cx="10514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Результаты измерений в виде графиков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Рисунок 101"/>
          <p:cNvPicPr/>
          <p:nvPr/>
        </p:nvPicPr>
        <p:blipFill>
          <a:blip r:embed="rId1"/>
          <a:stretch/>
        </p:blipFill>
        <p:spPr>
          <a:xfrm>
            <a:off x="815400" y="419400"/>
            <a:ext cx="10535400" cy="517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102"/>
          <p:cNvSpPr/>
          <p:nvPr/>
        </p:nvSpPr>
        <p:spPr>
          <a:xfrm>
            <a:off x="2856600" y="5961240"/>
            <a:ext cx="638208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Первая группа шаров. Показания весов.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3"/>
          <p:cNvSpPr/>
          <p:nvPr/>
        </p:nvSpPr>
        <p:spPr>
          <a:xfrm>
            <a:off x="2856600" y="5818320"/>
            <a:ext cx="638208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Первая группа шаров. Площадь поверхности в зависимости от времени.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Рисунок 104"/>
          <p:cNvPicPr/>
          <p:nvPr/>
        </p:nvPicPr>
        <p:blipFill>
          <a:blip r:embed="rId1"/>
          <a:stretch/>
        </p:blipFill>
        <p:spPr>
          <a:xfrm>
            <a:off x="815400" y="419400"/>
            <a:ext cx="10535400" cy="517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05"/>
          <p:cNvSpPr/>
          <p:nvPr/>
        </p:nvSpPr>
        <p:spPr>
          <a:xfrm>
            <a:off x="2856600" y="5961240"/>
            <a:ext cx="638208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Вторая группа шаров. Показания весов.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Рисунок 106"/>
          <p:cNvPicPr/>
          <p:nvPr/>
        </p:nvPicPr>
        <p:blipFill>
          <a:blip r:embed="rId1"/>
          <a:stretch/>
        </p:blipFill>
        <p:spPr>
          <a:xfrm>
            <a:off x="815400" y="419400"/>
            <a:ext cx="10535400" cy="517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07"/>
          <p:cNvSpPr/>
          <p:nvPr/>
        </p:nvSpPr>
        <p:spPr>
          <a:xfrm>
            <a:off x="3027960" y="5808240"/>
            <a:ext cx="638208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  <a:ea typeface="Microsoft YaHei"/>
              </a:rPr>
              <a:t>Вторая группа шаров. Площадь поверхности в зависимости от времени.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Рисунок 108"/>
          <p:cNvPicPr/>
          <p:nvPr/>
        </p:nvPicPr>
        <p:blipFill>
          <a:blip r:embed="rId1"/>
          <a:stretch/>
        </p:blipFill>
        <p:spPr>
          <a:xfrm>
            <a:off x="1613880" y="249840"/>
            <a:ext cx="8716680" cy="542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90200" y="2660400"/>
            <a:ext cx="10514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Обработка данных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0"/>
          <p:cNvSpPr/>
          <p:nvPr/>
        </p:nvSpPr>
        <p:spPr>
          <a:xfrm>
            <a:off x="2761560" y="5780160"/>
            <a:ext cx="67917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Первая группа шаров. Определение k и Δm.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Рисунок 111"/>
          <p:cNvPicPr/>
          <p:nvPr/>
        </p:nvPicPr>
        <p:blipFill>
          <a:blip r:embed="rId1"/>
          <a:stretch/>
        </p:blipFill>
        <p:spPr>
          <a:xfrm>
            <a:off x="1116720" y="584640"/>
            <a:ext cx="10008000" cy="491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2"/>
          <p:cNvSpPr/>
          <p:nvPr/>
        </p:nvSpPr>
        <p:spPr>
          <a:xfrm>
            <a:off x="2761560" y="5904000"/>
            <a:ext cx="67917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Первая группа шаров. m’(t).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Рисунок 113"/>
          <p:cNvPicPr/>
          <p:nvPr/>
        </p:nvPicPr>
        <p:blipFill>
          <a:blip r:embed="rId1"/>
          <a:stretch/>
        </p:blipFill>
        <p:spPr>
          <a:xfrm>
            <a:off x="720360" y="467640"/>
            <a:ext cx="10642680" cy="522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4"/>
          <p:cNvSpPr/>
          <p:nvPr/>
        </p:nvSpPr>
        <p:spPr>
          <a:xfrm>
            <a:off x="2761560" y="5904000"/>
            <a:ext cx="67917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Первая группа шаров. Коэффициенты диффузии.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Рисунок 115"/>
          <p:cNvPicPr/>
          <p:nvPr/>
        </p:nvPicPr>
        <p:blipFill>
          <a:blip r:embed="rId1"/>
          <a:stretch/>
        </p:blipFill>
        <p:spPr>
          <a:xfrm>
            <a:off x="1467000" y="304920"/>
            <a:ext cx="9143280" cy="548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6"/>
          <p:cNvSpPr/>
          <p:nvPr/>
        </p:nvSpPr>
        <p:spPr>
          <a:xfrm>
            <a:off x="2761560" y="5780160"/>
            <a:ext cx="67917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Вторая группа шаров. Определение k и Δm.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Рисунок 117"/>
          <p:cNvPicPr/>
          <p:nvPr/>
        </p:nvPicPr>
        <p:blipFill>
          <a:blip r:embed="rId1"/>
          <a:stretch/>
        </p:blipFill>
        <p:spPr>
          <a:xfrm>
            <a:off x="1116720" y="584640"/>
            <a:ext cx="10008000" cy="491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18"/>
          <p:cNvSpPr/>
          <p:nvPr/>
        </p:nvSpPr>
        <p:spPr>
          <a:xfrm>
            <a:off x="2761560" y="5904000"/>
            <a:ext cx="67917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Вторая группа шаров. m’(t).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Рисунок 119"/>
          <p:cNvPicPr/>
          <p:nvPr/>
        </p:nvPicPr>
        <p:blipFill>
          <a:blip r:embed="rId1"/>
          <a:stretch/>
        </p:blipFill>
        <p:spPr>
          <a:xfrm>
            <a:off x="1120320" y="536400"/>
            <a:ext cx="9861840" cy="484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0"/>
          <p:cNvSpPr/>
          <p:nvPr/>
        </p:nvSpPr>
        <p:spPr>
          <a:xfrm>
            <a:off x="2761560" y="5904000"/>
            <a:ext cx="67917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mbria Math"/>
              </a:rPr>
              <a:t>Вторая группа шаров. Коэффициенты диффузии.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Рисунок 121"/>
          <p:cNvPicPr/>
          <p:nvPr/>
        </p:nvPicPr>
        <p:blipFill>
          <a:blip r:embed="rId1"/>
          <a:stretch/>
        </p:blipFill>
        <p:spPr>
          <a:xfrm>
            <a:off x="1467000" y="304920"/>
            <a:ext cx="9143280" cy="548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266760" y="183960"/>
            <a:ext cx="1181088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mbria Math"/>
              </a:rPr>
              <a:t>Определение площади поверхности шариков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Рисунок 123"/>
          <p:cNvPicPr/>
          <p:nvPr/>
        </p:nvPicPr>
        <p:blipFill>
          <a:blip r:embed="rId1"/>
          <a:stretch/>
        </p:blipFill>
        <p:spPr>
          <a:xfrm>
            <a:off x="552240" y="1689840"/>
            <a:ext cx="6896160" cy="471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</TotalTime>
  <Application>LibreOffice/25.8.6.2$Windows_X86_64 LibreOffice_project/b4b39682cd9868fa725bc664aff94278d315bd04</Application>
  <AppVersion>15.0000</AppVersion>
  <Words>466</Words>
  <Paragraphs>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2026-04-15T16:30:03Z</dcterms:created>
  <dc:creator>Титова Ксюша</dc:creator>
  <dc:description/>
  <dc:language>ru-RU</dc:language>
  <cp:lastModifiedBy/>
  <dcterms:modified xsi:type="dcterms:W3CDTF">2026-06-16T14:20:16Z</dcterms:modified>
  <cp:revision>29</cp:revision>
  <dc:subject/>
  <dc:title>Исследование коэффициента диффузии гелия через стенки шарика при разной влажности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